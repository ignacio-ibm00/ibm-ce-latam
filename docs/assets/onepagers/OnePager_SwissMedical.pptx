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7065" y="-9569"/>
            <a:ext cx="3824935" cy="68580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IBM Plex Sans" panose="020B050305020300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589520" cy="4985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D3002B"/>
                </a:solidFill>
                <a:latin typeface="IBM Plex Sans" panose="020B0503050203000203" pitchFamily="34" charset="0"/>
              </a:rPr>
              <a:t>Swiss Medical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589520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100" b="1" i="0" dirty="0">
                <a:solidFill>
                  <a:srgbClr val="161616"/>
                </a:solidFill>
                <a:latin typeface="IBM Plex Sans" panose="020B0503050203000203" pitchFamily="34" charset="0"/>
              </a:rPr>
              <a:t>Industry: </a:t>
            </a:r>
            <a:r>
              <a:rPr sz="1100" b="0" i="0" dirty="0">
                <a:solidFill>
                  <a:srgbClr val="161616"/>
                </a:solidFill>
                <a:latin typeface="IBM Plex Sans" panose="020B0503050203000203" pitchFamily="34" charset="0"/>
              </a:rPr>
              <a:t>Healthcare </a:t>
            </a:r>
            <a:r>
              <a:rPr sz="1100" b="1" i="0" dirty="0">
                <a:solidFill>
                  <a:srgbClr val="161616"/>
                </a:solidFill>
                <a:latin typeface="IBM Plex Sans" panose="020B0503050203000203" pitchFamily="34" charset="0"/>
              </a:rPr>
              <a:t>|   Market: </a:t>
            </a:r>
            <a:r>
              <a:rPr sz="1100" b="0" i="0" dirty="0">
                <a:solidFill>
                  <a:srgbClr val="161616"/>
                </a:solidFill>
                <a:latin typeface="IBM Plex Sans" panose="020B0503050203000203" pitchFamily="34" charset="0"/>
              </a:rPr>
              <a:t>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8436"/>
            <a:ext cx="7589520" cy="6832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 dirty="0">
                <a:solidFill>
                  <a:srgbClr val="161616"/>
                </a:solidFill>
                <a:latin typeface="IBM Plex Sans" panose="020B0503050203000203" pitchFamily="34" charset="0"/>
              </a:rPr>
              <a:t>Text &amp; Voice AI Agents for Medical Appointments with </a:t>
            </a:r>
            <a:r>
              <a:rPr sz="2100" b="1" i="0" dirty="0" err="1">
                <a:solidFill>
                  <a:srgbClr val="161616"/>
                </a:solidFill>
                <a:latin typeface="IBM Plex Sans" panose="020B0503050203000203" pitchFamily="34" charset="0"/>
              </a:rPr>
              <a:t>watsonx</a:t>
            </a:r>
            <a:endParaRPr sz="2100" b="1" i="0" dirty="0">
              <a:solidFill>
                <a:srgbClr val="161616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7589520" cy="152362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0F62FE"/>
                </a:solidFill>
                <a:latin typeface="IBM Plex Sans" panose="020B0503050203000203" pitchFamily="34" charset="0"/>
              </a:rPr>
              <a:t>Business Problem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Swiss Medical Group (SMMP), one of Argentina's largest private healthcare providers, launched a Proof of Concept (“Swity 2.0”) as part of an RFP to select a corporate, secure and governed agentic AI platform.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The goal was to modernize member self-service for medical appointment management: an assistant able to handle the full appointment lifecycle — searching providers, checking plan coverage, booking, consulting and cancelling appointments — through natural language over WhatsApp and voice, in </a:t>
            </a:r>
            <a:r>
              <a:rPr sz="1050" b="0" i="0" dirty="0" err="1">
                <a:latin typeface="IBM Plex Sans" panose="020B0503050203000203" pitchFamily="34" charset="0"/>
              </a:rPr>
              <a:t>Rioplatense</a:t>
            </a:r>
            <a:r>
              <a:rPr sz="1050" b="0" i="0" dirty="0">
                <a:latin typeface="IBM Plex Sans" panose="020B0503050203000203" pitchFamily="34" charset="0"/>
              </a:rPr>
              <a:t> Spanish.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The solution had to interpret informal language, correct user errors, degrade gracefully on back-end failures, protect member data, and never provide medical advice.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7589520" cy="2224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0F62FE"/>
                </a:solidFill>
                <a:latin typeface="IBM Plex Sans" panose="020B0503050203000203" pitchFamily="34" charset="0"/>
              </a:rPr>
              <a:t>How IBM Solved 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IBM designed and implemented “Swity” on IBM </a:t>
            </a:r>
            <a:r>
              <a:rPr sz="1050" b="0" i="0" dirty="0" err="1">
                <a:latin typeface="IBM Plex Sans" panose="020B0503050203000203" pitchFamily="34" charset="0"/>
              </a:rPr>
              <a:t>watsonx</a:t>
            </a:r>
            <a:r>
              <a:rPr sz="1050" b="0" i="0" dirty="0">
                <a:latin typeface="IBM Plex Sans" panose="020B0503050203000203" pitchFamily="34" charset="0"/>
              </a:rPr>
              <a:t> Orchestrate, delivered through TWO conversational channels: a text agent on WhatsApp and a real-time voice agent.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The voice agent speaks with a natural </a:t>
            </a:r>
            <a:r>
              <a:rPr sz="1050" b="0" i="0" dirty="0" err="1">
                <a:latin typeface="IBM Plex Sans" panose="020B0503050203000203" pitchFamily="34" charset="0"/>
              </a:rPr>
              <a:t>Rioplatense</a:t>
            </a:r>
            <a:r>
              <a:rPr sz="1050" b="0" i="0" dirty="0">
                <a:latin typeface="IBM Plex Sans" panose="020B0503050203000203" pitchFamily="34" charset="0"/>
              </a:rPr>
              <a:t> voice synthesized by </a:t>
            </a:r>
            <a:r>
              <a:rPr sz="1050" b="0" i="0" dirty="0" err="1">
                <a:latin typeface="IBM Plex Sans" panose="020B0503050203000203" pitchFamily="34" charset="0"/>
              </a:rPr>
              <a:t>ElevenLabs</a:t>
            </a:r>
            <a:r>
              <a:rPr sz="1050" b="0" i="0" dirty="0">
                <a:latin typeface="IBM Plex Sans" panose="020B0503050203000203" pitchFamily="34" charset="0"/>
              </a:rPr>
              <a:t> (text-to-speech) and understands the caller through </a:t>
            </a:r>
            <a:r>
              <a:rPr sz="1050" b="0" i="0" dirty="0" err="1">
                <a:latin typeface="IBM Plex Sans" panose="020B0503050203000203" pitchFamily="34" charset="0"/>
              </a:rPr>
              <a:t>Deepgram</a:t>
            </a:r>
            <a:r>
              <a:rPr sz="1050" b="0" i="0" dirty="0">
                <a:latin typeface="IBM Plex Sans" panose="020B0503050203000203" pitchFamily="34" charset="0"/>
              </a:rPr>
              <a:t> speech recognition; WhatsApp voice notes are additionally transcribed by a custom Watson Speech-to-Text model tuned for Argentine Spanish and medical vocabulary.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Across both channels, Swity validates member identity, searches providers within the plan's </a:t>
            </a:r>
            <a:r>
              <a:rPr sz="1050" b="0" i="0" dirty="0" err="1">
                <a:latin typeface="IBM Plex Sans" panose="020B0503050203000203" pitchFamily="34" charset="0"/>
              </a:rPr>
              <a:t>cartilla</a:t>
            </a:r>
            <a:r>
              <a:rPr sz="1050" b="0" i="0" dirty="0">
                <a:latin typeface="IBM Plex Sans" panose="020B0503050203000203" pitchFamily="34" charset="0"/>
              </a:rPr>
              <a:t>, checks coverage and availability, and completes booking, consultation and cancellation flows against Swiss Medical's </a:t>
            </a:r>
            <a:r>
              <a:rPr sz="1050" b="0" i="0" dirty="0" err="1">
                <a:latin typeface="IBM Plex Sans" panose="020B0503050203000203" pitchFamily="34" charset="0"/>
              </a:rPr>
              <a:t>mobilepre</a:t>
            </a:r>
            <a:r>
              <a:rPr sz="1050" b="0" i="0" dirty="0">
                <a:latin typeface="IBM Plex Sans" panose="020B0503050203000203" pitchFamily="34" charset="0"/>
              </a:rPr>
              <a:t> APIs through purpose-built Python tools.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latin typeface="IBM Plex Sans" panose="020B0503050203000203" pitchFamily="34" charset="0"/>
              </a:rPr>
              <a:t>It adds symptom-triage that maps natural-language complaints to the correct specialty, strict anti-hallucination and data-security guardrails, and a zero-tolerance medical-advice prohibition — all monitored and governed through </a:t>
            </a:r>
            <a:r>
              <a:rPr sz="1050" b="0" i="0" dirty="0" err="1">
                <a:latin typeface="IBM Plex Sans" panose="020B0503050203000203" pitchFamily="34" charset="0"/>
              </a:rPr>
              <a:t>watsonx.governance</a:t>
            </a:r>
            <a:r>
              <a:rPr sz="1050" b="0" i="0" dirty="0"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454896"/>
            <a:ext cx="3322015" cy="133728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 dirty="0">
                <a:solidFill>
                  <a:srgbClr val="FFFFFF"/>
                </a:solidFill>
                <a:latin typeface="IBM Plex Sans" panose="020B0503050203000203" pitchFamily="34" charset="0"/>
              </a:rPr>
              <a:t>Value and Impact of Outcomes for customers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Full appointment lifecycle self-service (search, book, consult, cancel), available 24/7 in natural language.</a:t>
            </a:r>
            <a:endParaRPr lang="es-419" sz="900" b="0" i="0" dirty="0">
              <a:solidFill>
                <a:srgbClr val="F2F4F8"/>
              </a:solidFill>
              <a:latin typeface="IBM Plex Sans" panose="020B0503050203000203" pitchFamily="34" charset="0"/>
            </a:endParaRP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Omnichannel, natural experience: WhatsApp text, WhatsApp voice notes, and a real-time voice agent — all in </a:t>
            </a:r>
            <a:r>
              <a:rPr sz="900" b="0" i="0" dirty="0" err="1">
                <a:solidFill>
                  <a:srgbClr val="F2F4F8"/>
                </a:solidFill>
                <a:latin typeface="IBM Plex Sans" panose="020B0503050203000203" pitchFamily="34" charset="0"/>
              </a:rPr>
              <a:t>Rioplatense</a:t>
            </a: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 Spanish.</a:t>
            </a:r>
            <a:endParaRPr lang="es-419" sz="900" b="0" i="0" dirty="0">
              <a:solidFill>
                <a:srgbClr val="F2F4F8"/>
              </a:solidFill>
              <a:latin typeface="IBM Plex Sans" panose="020B0503050203000203" pitchFamily="34" charset="0"/>
            </a:endParaRP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Safe by design: strict guardrails, anti-hallucination controls and a hard medical-advice prohibition.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8523" y="2419933"/>
            <a:ext cx="3322015" cy="24555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 dirty="0">
                <a:solidFill>
                  <a:schemeClr val="bg1"/>
                </a:solidFill>
                <a:latin typeface="IBM Plex Sans" panose="020B0503050203000203" pitchFamily="34" charset="0"/>
              </a:rPr>
              <a:t>Value and Impact of Outcomes for IBM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R" sz="900" dirty="0">
                <a:solidFill>
                  <a:schemeClr val="bg1"/>
                </a:solidFill>
                <a:latin typeface="IBM Plex Sans" panose="020B0503050203000203" pitchFamily="34" charset="0"/>
              </a:rPr>
              <a:t>End-to-end appointment management — members can book, consult, reschedule and cancel medical appointments end-to-end just by talking to the agent, with no phone calls or app navigation.</a:t>
            </a:r>
          </a:p>
          <a:p>
            <a:endParaRPr lang="en-AR" sz="900" dirty="0">
              <a:solidFill>
                <a:schemeClr val="bg1"/>
              </a:solidFill>
              <a:latin typeface="IBM Plex Sans" panose="020B050305020300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R" sz="900" dirty="0">
                <a:solidFill>
                  <a:schemeClr val="bg1"/>
                </a:solidFill>
                <a:latin typeface="IBM Plex Sans" panose="020B0503050203000203" pitchFamily="34" charset="0"/>
              </a:rPr>
              <a:t>One experience across voice and text — the same capabilities work over WhatsApp chat, WhatsApp voice notes and a real-time voice agent, adapting to whichever channel the user prefers.</a:t>
            </a:r>
          </a:p>
          <a:p>
            <a:endParaRPr lang="en-AR" sz="900" dirty="0">
              <a:solidFill>
                <a:schemeClr val="bg1"/>
              </a:solidFill>
              <a:latin typeface="IBM Plex Sans" panose="020B050305020300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R" sz="900" dirty="0">
                <a:solidFill>
                  <a:schemeClr val="bg1"/>
                </a:solidFill>
                <a:latin typeface="IBM Plex Sans" panose="020B0503050203000203" pitchFamily="34" charset="0"/>
              </a:rPr>
              <a:t>Natural-language understanding — the agent interprets informal language, symptoms and typos, validates identity and searches within the plan's cartilla, guiding the member safely to a confirmed appointment.</a:t>
            </a:r>
          </a:p>
          <a:p>
            <a:br>
              <a:rPr lang="en-AR" sz="900" dirty="0">
                <a:solidFill>
                  <a:schemeClr val="bg1"/>
                </a:solidFill>
                <a:latin typeface="IBM Plex Sans" panose="020B0503050203000203" pitchFamily="34" charset="0"/>
              </a:rPr>
            </a:br>
            <a:endParaRPr sz="900" i="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18524" y="5250428"/>
            <a:ext cx="3322015" cy="14014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 dirty="0">
                <a:solidFill>
                  <a:srgbClr val="FFFFFF"/>
                </a:solidFill>
                <a:latin typeface="IBM Plex Sans" panose="020B0503050203000203" pitchFamily="34" charset="0"/>
              </a:rPr>
              <a:t>Client Segment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Horizon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 dirty="0">
                <a:solidFill>
                  <a:srgbClr val="FFFFFF"/>
                </a:solidFill>
                <a:latin typeface="IBM Plex Sans" panose="020B0503050203000203" pitchFamily="34" charset="0"/>
              </a:rPr>
              <a:t>Created with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 dirty="0" err="1">
                <a:solidFill>
                  <a:srgbClr val="F2F4F8"/>
                </a:solidFill>
                <a:latin typeface="IBM Plex Sans" panose="020B0503050203000203" pitchFamily="34" charset="0"/>
              </a:rPr>
              <a:t>watsonx</a:t>
            </a: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 Orchestrate   |   </a:t>
            </a:r>
            <a:r>
              <a:rPr sz="900" b="0" i="0" dirty="0" err="1">
                <a:solidFill>
                  <a:srgbClr val="F2F4F8"/>
                </a:solidFill>
                <a:latin typeface="IBM Plex Sans" panose="020B0503050203000203" pitchFamily="34" charset="0"/>
              </a:rPr>
              <a:t>watsonx.governance</a:t>
            </a: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   |   </a:t>
            </a:r>
            <a:r>
              <a:rPr sz="900" b="0" i="0" dirty="0" err="1">
                <a:solidFill>
                  <a:srgbClr val="F2F4F8"/>
                </a:solidFill>
                <a:latin typeface="IBM Plex Sans" panose="020B0503050203000203" pitchFamily="34" charset="0"/>
              </a:rPr>
              <a:t>ElevenLabs</a:t>
            </a: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 (voice)   |   </a:t>
            </a:r>
            <a:r>
              <a:rPr sz="900" b="0" i="0" dirty="0" err="1">
                <a:solidFill>
                  <a:srgbClr val="F2F4F8"/>
                </a:solidFill>
                <a:latin typeface="IBM Plex Sans" panose="020B0503050203000203" pitchFamily="34" charset="0"/>
              </a:rPr>
              <a:t>Deepgram</a:t>
            </a: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 STT   |   Watson Speech to 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 dirty="0">
                <a:solidFill>
                  <a:srgbClr val="FFFFFF"/>
                </a:solidFill>
                <a:latin typeface="IBM Plex Sans" panose="020B0503050203000203" pitchFamily="34" charset="0"/>
              </a:rPr>
              <a:t>IBM Team Engaged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Martina Pérez – AI Engineer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F2F4F8"/>
                </a:solidFill>
                <a:latin typeface="IBM Plex Sans" panose="020B0503050203000203" pitchFamily="34" charset="0"/>
              </a:rPr>
              <a:t>Ignacio Ayerbe – AI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589520" cy="1600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25252"/>
                </a:solidFill>
                <a:latin typeface="IBM Plex Sans" panose="020B0503050203000203" pitchFamily="34" charset="0"/>
              </a:rPr>
              <a:t>IBM Client Engineering  /  © 2026 IBM Corporation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499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IBM Plex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Ignacio Ayerbe</cp:lastModifiedBy>
  <cp:revision>2</cp:revision>
  <dcterms:created xsi:type="dcterms:W3CDTF">2013-01-27T09:14:16Z</dcterms:created>
  <dcterms:modified xsi:type="dcterms:W3CDTF">2026-07-02T19:57:19Z</dcterms:modified>
  <cp:category/>
</cp:coreProperties>
</file>